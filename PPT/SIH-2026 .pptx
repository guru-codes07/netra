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3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2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88DC3D6-6CF9-4B41-86A2-EC483A52FBE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6B522B6-A36E-4853-A761-3F1C2BDB9B2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3214AB7-EC8D-41AC-9DD4-47DF858CB1E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2074612-BBFF-499D-BFA8-8527293291F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0FCD816-744C-47B8-8B1A-DD7FAB9FCE2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621EB2F-69D3-4843-A2AA-6B80C6F6BE5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0F3BF19-3125-46EE-87C3-BB9E9F66CD24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10972440" cy="5030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3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sldNum" idx="4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4D239B-9657-4EE1-9FB3-E10A55E2261B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839080" y="274680"/>
            <a:ext cx="2742840" cy="5851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274680"/>
            <a:ext cx="8026200" cy="5851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5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EF202B-2088-4E33-90D0-CE3D057DF5FE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10972440" cy="5030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8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BC2CC0F-56CC-4D41-ABED-E591C4540FD3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TradeGothic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9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sldNum" idx="10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F8BE9F-1B4B-408F-A3E3-BBE78902BFC1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5384520" cy="4525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197760" y="1600200"/>
            <a:ext cx="5384520" cy="4525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dt" idx="1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D4EAABE-7041-45EE-89FD-1F559D1BCB49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6680" cy="639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6680" cy="3951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8840" cy="639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8840" cy="3951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dt" idx="13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7"/>
          <p:cNvSpPr>
            <a:spLocks noGrp="1"/>
          </p:cNvSpPr>
          <p:nvPr>
            <p:ph type="sldNum" idx="14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0637BB6-DA33-4408-9DD5-877738529DC2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dt" idx="15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16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07D9E88-3728-4D0D-84BC-2970D3D74FA3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dt" idx="17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ldNum" idx="18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109035-71E4-48A8-9F8A-1570B0CCAD3E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760" cy="1161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5160" cy="58528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10760" cy="4690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19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20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B0CADF3-C26B-48CF-8907-E43CA8486690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2389680" y="612720"/>
            <a:ext cx="73148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886EB52-1B00-40FA-BF21-8E1E0BD9C44E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23880" y="0"/>
            <a:ext cx="914364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" name="Freeform: Shap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56680" y="851400"/>
            <a:ext cx="4638240" cy="5154480"/>
          </a:xfrm>
          <a:custGeom>
            <a:avLst/>
            <a:gdLst>
              <a:gd name="textAreaLeft" fmla="*/ 0 w 4638240"/>
              <a:gd name="textAreaRight" fmla="*/ 4638600 w 4638240"/>
              <a:gd name="textAreaTop" fmla="*/ 0 h 5154480"/>
              <a:gd name="textAreaBottom" fmla="*/ 5154840 h 5154480"/>
              <a:gd name="GluePoint1X" fmla="*/ 363179 w 6184806"/>
              <a:gd name="GluePoint1Y" fmla="*/ 3125191 h 5154967"/>
              <a:gd name="GluePoint2X" fmla="*/ 898270 w 6184806"/>
              <a:gd name="GluePoint2Y" fmla="*/ 3125191 h 5154967"/>
              <a:gd name="GluePoint3X" fmla="*/ 980326 w 6184806"/>
              <a:gd name="GluePoint3Y" fmla="*/ 3173551 h 5154967"/>
              <a:gd name="GluePoint4X" fmla="*/ 1248448 w 6184806"/>
              <a:gd name="GluePoint4Y" fmla="*/ 3635277 h 5154967"/>
              <a:gd name="GluePoint5X" fmla="*/ 1248448 w 6184806"/>
              <a:gd name="GluePoint5Y" fmla="*/ 3729695 h 5154967"/>
              <a:gd name="GluePoint6X" fmla="*/ 980326 w 6184806"/>
              <a:gd name="GluePoint6Y" fmla="*/ 4191421 h 5154967"/>
              <a:gd name="GluePoint7X" fmla="*/ 898270 w 6184806"/>
              <a:gd name="GluePoint7Y" fmla="*/ 4239781 h 5154967"/>
              <a:gd name="GluePoint8X" fmla="*/ 363179 w 6184806"/>
              <a:gd name="GluePoint8Y" fmla="*/ 4239781 h 5154967"/>
              <a:gd name="GluePoint9X" fmla="*/ 279969 w 6184806"/>
              <a:gd name="GluePoint9Y" fmla="*/ 4191421 h 5154967"/>
              <a:gd name="GluePoint10X" fmla="*/ 13002 w 6184806"/>
              <a:gd name="GluePoint10Y" fmla="*/ 3729695 h 5154967"/>
              <a:gd name="GluePoint11X" fmla="*/ 13002 w 6184806"/>
              <a:gd name="GluePoint11Y" fmla="*/ 3635277 h 5154967"/>
              <a:gd name="GluePoint12X" fmla="*/ 279969 w 6184806"/>
              <a:gd name="GluePoint12Y" fmla="*/ 3173551 h 5154967"/>
              <a:gd name="GluePoint13X" fmla="*/ 363179 w 6184806"/>
              <a:gd name="GluePoint13Y" fmla="*/ 3125191 h 5154967"/>
              <a:gd name="GluePoint14X" fmla="*/ 2489721 w 6184806"/>
              <a:gd name="GluePoint14Y" fmla="*/ 570035 h 5154967"/>
              <a:gd name="GluePoint15X" fmla="*/ 2764862 w 6184806"/>
              <a:gd name="GluePoint15Y" fmla="*/ 570035 h 5154967"/>
              <a:gd name="GluePoint16X" fmla="*/ 2796959 w 6184806"/>
              <a:gd name="GluePoint16Y" fmla="*/ 570035 h 5154967"/>
              <a:gd name="GluePoint17X" fmla="*/ 2827587 w 6184806"/>
              <a:gd name="GluePoint17Y" fmla="*/ 622777 h 5154967"/>
              <a:gd name="GluePoint18X" fmla="*/ 2977604 w 6184806"/>
              <a:gd name="GluePoint18Y" fmla="*/ 881117 h 5154967"/>
              <a:gd name="GluePoint19X" fmla="*/ 2977604 w 6184806"/>
              <a:gd name="GluePoint19Y" fmla="*/ 1025720 h 5154967"/>
              <a:gd name="GluePoint20X" fmla="*/ 2566968 w 6184806"/>
              <a:gd name="GluePoint20Y" fmla="*/ 1732863 h 5154967"/>
              <a:gd name="GluePoint21X" fmla="*/ 2441299 w 6184806"/>
              <a:gd name="GluePoint21Y" fmla="*/ 1806927 h 5154967"/>
              <a:gd name="GluePoint22X" fmla="*/ 1621798 w 6184806"/>
              <a:gd name="GluePoint22Y" fmla="*/ 1806927 h 5154967"/>
              <a:gd name="GluePoint23X" fmla="*/ 1583218 w 6184806"/>
              <a:gd name="GluePoint23Y" fmla="*/ 1801802 h 5154967"/>
              <a:gd name="GluePoint24X" fmla="*/ 1556683 w 6184806"/>
              <a:gd name="GluePoint24Y" fmla="*/ 1790677 h 5154967"/>
              <a:gd name="GluePoint25X" fmla="*/ 1572899 w 6184806"/>
              <a:gd name="GluePoint25Y" fmla="*/ 1762630 h 5154967"/>
              <a:gd name="GluePoint26X" fmla="*/ 2147429 w 6184806"/>
              <a:gd name="GluePoint26Y" fmla="*/ 768968 h 5154967"/>
              <a:gd name="GluePoint27X" fmla="*/ 2489721 w 6184806"/>
              <a:gd name="GluePoint27Y" fmla="*/ 570035 h 5154967"/>
              <a:gd name="GluePoint28X" fmla="*/ 1573268 w 6184806"/>
              <a:gd name="GluePoint28Y" fmla="*/ 0 h 5154967"/>
              <a:gd name="GluePoint29X" fmla="*/ 2497662 w 6184806"/>
              <a:gd name="GluePoint29Y" fmla="*/ 0 h 5154967"/>
              <a:gd name="GluePoint30X" fmla="*/ 2639415 w 6184806"/>
              <a:gd name="GluePoint30Y" fmla="*/ 83546 h 5154967"/>
              <a:gd name="GluePoint31X" fmla="*/ 2887862 w 6184806"/>
              <a:gd name="GluePoint31Y" fmla="*/ 511387 h 5154967"/>
              <a:gd name="GluePoint32X" fmla="*/ 2915928 w 6184806"/>
              <a:gd name="GluePoint32Y" fmla="*/ 559720 h 5154967"/>
              <a:gd name="GluePoint33X" fmla="*/ 2893844 w 6184806"/>
              <a:gd name="GluePoint33Y" fmla="*/ 559720 h 5154967"/>
              <a:gd name="GluePoint34X" fmla="*/ 2789466 w 6184806"/>
              <a:gd name="GluePoint34Y" fmla="*/ 559720 h 5154967"/>
              <a:gd name="GluePoint35X" fmla="*/ 2744122 w 6184806"/>
              <a:gd name="GluePoint35Y" fmla="*/ 481634 h 5154967"/>
              <a:gd name="GluePoint36X" fmla="*/ 2570885 w 6184806"/>
              <a:gd name="GluePoint36Y" fmla="*/ 183309 h 5154967"/>
              <a:gd name="GluePoint37X" fmla="*/ 2445216 w 6184806"/>
              <a:gd name="GluePoint37Y" fmla="*/ 109243 h 5154967"/>
              <a:gd name="GluePoint38X" fmla="*/ 1625714 w 6184806"/>
              <a:gd name="GluePoint38Y" fmla="*/ 109243 h 5154967"/>
              <a:gd name="GluePoint39X" fmla="*/ 1498276 w 6184806"/>
              <a:gd name="GluePoint39Y" fmla="*/ 183309 h 5154967"/>
              <a:gd name="GluePoint40X" fmla="*/ 1089410 w 6184806"/>
              <a:gd name="GluePoint40Y" fmla="*/ 890450 h 5154967"/>
              <a:gd name="GluePoint41X" fmla="*/ 1089410 w 6184806"/>
              <a:gd name="GluePoint41Y" fmla="*/ 1035054 h 5154967"/>
              <a:gd name="GluePoint42X" fmla="*/ 1498276 w 6184806"/>
              <a:gd name="GluePoint42Y" fmla="*/ 1742196 h 5154967"/>
              <a:gd name="GluePoint43X" fmla="*/ 1552039 w 6184806"/>
              <a:gd name="GluePoint43Y" fmla="*/ 1796422 h 5154967"/>
              <a:gd name="GluePoint44X" fmla="*/ 1558260 w 6184806"/>
              <a:gd name="GluePoint44Y" fmla="*/ 1799029 h 5154967"/>
              <a:gd name="GluePoint45X" fmla="*/ 1524911 w 6184806"/>
              <a:gd name="GluePoint45Y" fmla="*/ 1856707 h 5154967"/>
              <a:gd name="GluePoint46X" fmla="*/ 1500108 w 6184806"/>
              <a:gd name="GluePoint46Y" fmla="*/ 1899604 h 5154967"/>
              <a:gd name="GluePoint47X" fmla="*/ 1525834 w 6184806"/>
              <a:gd name="GluePoint47Y" fmla="*/ 1910390 h 5154967"/>
              <a:gd name="GluePoint48X" fmla="*/ 1569352 w 6184806"/>
              <a:gd name="GluePoint48Y" fmla="*/ 1916170 h 5154967"/>
              <a:gd name="GluePoint49X" fmla="*/ 2493745 w 6184806"/>
              <a:gd name="GluePoint49Y" fmla="*/ 1916170 h 5154967"/>
              <a:gd name="GluePoint50X" fmla="*/ 2635498 w 6184806"/>
              <a:gd name="GluePoint50Y" fmla="*/ 1832627 h 5154967"/>
              <a:gd name="GluePoint51X" fmla="*/ 3098693 w 6184806"/>
              <a:gd name="GluePoint51Y" fmla="*/ 1034974 h 5154967"/>
              <a:gd name="GluePoint52X" fmla="*/ 3098693 w 6184806"/>
              <a:gd name="GluePoint52Y" fmla="*/ 871863 h 5154967"/>
              <a:gd name="GluePoint53X" fmla="*/ 2945803 w 6184806"/>
              <a:gd name="GluePoint53Y" fmla="*/ 608576 h 5154967"/>
              <a:gd name="GluePoint54X" fmla="*/ 2923422 w 6184806"/>
              <a:gd name="GluePoint54Y" fmla="*/ 570035 h 5154967"/>
              <a:gd name="GluePoint55X" fmla="*/ 3027104 w 6184806"/>
              <a:gd name="GluePoint55Y" fmla="*/ 570035 h 5154967"/>
              <a:gd name="GluePoint56X" fmla="*/ 4690846 w 6184806"/>
              <a:gd name="GluePoint56Y" fmla="*/ 570035 h 5154967"/>
              <a:gd name="GluePoint57X" fmla="*/ 5028384 w 6184806"/>
              <a:gd name="GluePoint57Y" fmla="*/ 768968 h 5154967"/>
              <a:gd name="GluePoint58X" fmla="*/ 6131323 w 6184806"/>
              <a:gd name="GluePoint58Y" fmla="*/ 2668304 h 5154967"/>
              <a:gd name="GluePoint59X" fmla="*/ 6131323 w 6184806"/>
              <a:gd name="GluePoint59Y" fmla="*/ 3056698 h 5154967"/>
              <a:gd name="GluePoint60X" fmla="*/ 5028384 w 6184806"/>
              <a:gd name="GluePoint60Y" fmla="*/ 4956035 h 5154967"/>
              <a:gd name="GluePoint61X" fmla="*/ 4690846 w 6184806"/>
              <a:gd name="GluePoint61Y" fmla="*/ 5154967 h 5154967"/>
              <a:gd name="GluePoint62X" fmla="*/ 2489721 w 6184806"/>
              <a:gd name="GluePoint62Y" fmla="*/ 5154967 h 5154967"/>
              <a:gd name="GluePoint63X" fmla="*/ 2147429 w 6184806"/>
              <a:gd name="GluePoint63Y" fmla="*/ 4956035 h 5154967"/>
              <a:gd name="GluePoint64X" fmla="*/ 1049243 w 6184806"/>
              <a:gd name="GluePoint64Y" fmla="*/ 3056698 h 5154967"/>
              <a:gd name="GluePoint65X" fmla="*/ 1049243 w 6184806"/>
              <a:gd name="GluePoint65Y" fmla="*/ 2668304 h 5154967"/>
              <a:gd name="GluePoint66X" fmla="*/ 1457007 w 6184806"/>
              <a:gd name="GluePoint66Y" fmla="*/ 1963067 h 5154967"/>
              <a:gd name="GluePoint67X" fmla="*/ 1491373 w 6184806"/>
              <a:gd name="GluePoint67Y" fmla="*/ 1903634 h 5154967"/>
              <a:gd name="GluePoint68X" fmla="*/ 1490164 w 6184806"/>
              <a:gd name="GluePoint68Y" fmla="*/ 1903127 h 5154967"/>
              <a:gd name="GluePoint69X" fmla="*/ 1429519 w 6184806"/>
              <a:gd name="GluePoint69Y" fmla="*/ 1841960 h 5154967"/>
              <a:gd name="GluePoint70X" fmla="*/ 968320 w 6184806"/>
              <a:gd name="GluePoint70Y" fmla="*/ 1044307 h 5154967"/>
              <a:gd name="GluePoint71X" fmla="*/ 968320 w 6184806"/>
              <a:gd name="GluePoint71Y" fmla="*/ 881196 h 5154967"/>
              <a:gd name="GluePoint72X" fmla="*/ 1429519 w 6184806"/>
              <a:gd name="GluePoint72Y" fmla="*/ 83546 h 5154967"/>
              <a:gd name="GluePoint73X" fmla="*/ 1573268 w 6184806"/>
              <a:gd name="GluePoint73Y" fmla="*/ 0 h 515496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</a:cxnLst>
            <a:rect l="textAreaLeft" t="textAreaTop" r="textAreaRight" b="textAreaBottom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dk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7" name="Picture 4"/>
          <p:cNvPicPr/>
          <p:nvPr/>
        </p:nvPicPr>
        <p:blipFill>
          <a:blip r:embed="rId1"/>
          <a:srcRect l="0" t="0" r="59916" b="0"/>
          <a:stretch/>
        </p:blipFill>
        <p:spPr>
          <a:xfrm>
            <a:off x="6854760" y="1715760"/>
            <a:ext cx="3203280" cy="342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1245600" y="648720"/>
            <a:ext cx="8534160" cy="1752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TradeGothic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TITLE PAGE</a:t>
            </a:r>
            <a:endParaRPr lang="en-US" sz="3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TradeGothic"/>
            </a:endParaRPr>
          </a:p>
          <a:p>
            <a:pPr indent="0" algn="ctr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1" u="none" strike="noStrike">
                <a:solidFill>
                  <a:srgbClr val="0070C0"/>
                </a:solidFill>
                <a:effectLst/>
                <a:uFillTx/>
                <a:latin typeface="Arial"/>
                <a:ea typeface="ＭＳ Ｐゴシック"/>
              </a:rPr>
              <a:t> AI-Powered Criminal Network Analysis System </a:t>
            </a:r>
            <a:endParaRPr lang="en-US" sz="1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TradeGothic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title"/>
          </p:nvPr>
        </p:nvSpPr>
        <p:spPr>
          <a:xfrm>
            <a:off x="331200" y="-526680"/>
            <a:ext cx="10362960" cy="20761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1" u="none" strike="noStrike">
                <a:solidFill>
                  <a:schemeClr val="dk2"/>
                </a:solidFill>
                <a:effectLst/>
                <a:uFillTx/>
                <a:latin typeface="Garamond"/>
                <a:ea typeface="ＭＳ Ｐゴシック"/>
              </a:rPr>
              <a:t>SMART INDIA HACKATHON 2026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60" name="TextBox 9"/>
          <p:cNvSpPr/>
          <p:nvPr/>
        </p:nvSpPr>
        <p:spPr>
          <a:xfrm>
            <a:off x="331200" y="2823840"/>
            <a:ext cx="5924160" cy="27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1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Problem Statement ID – SIH26189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Arial"/>
                <a:ea typeface="ＭＳ Ｐゴシック"/>
              </a:rPr>
              <a:t>Problem Statement Title – AI-Powered Criminal Network Analysis 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Arial"/>
                <a:ea typeface="ＭＳ Ｐゴシック"/>
              </a:rPr>
              <a:t>Theme – Blockchain &amp; Cybersecurity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Arial"/>
                <a:ea typeface="ＭＳ Ｐゴシック"/>
              </a:rPr>
              <a:t>PS Category – Software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Arial"/>
                <a:ea typeface="ＭＳ Ｐゴシック"/>
              </a:rPr>
              <a:t>Team Name – NETRA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Arial"/>
                <a:ea typeface="ＭＳ Ｐゴシック"/>
              </a:rPr>
              <a:t>Team ID –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Picture 2" descr="https://www.sih.gov.in/img1/SIH-Logo.png"/>
          <p:cNvPicPr/>
          <p:nvPr/>
        </p:nvPicPr>
        <p:blipFill>
          <a:blip r:embed="rId2"/>
          <a:stretch/>
        </p:blipFill>
        <p:spPr>
          <a:xfrm>
            <a:off x="9841320" y="6120"/>
            <a:ext cx="2208600" cy="1122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8"/>
          <p:cNvSpPr/>
          <p:nvPr/>
        </p:nvSpPr>
        <p:spPr>
          <a:xfrm>
            <a:off x="0" y="6354720"/>
            <a:ext cx="12191760" cy="50292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accent2">
                  <a:lumMod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82880" y="0"/>
            <a:ext cx="10972440" cy="7768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000" b="1" u="none" strike="noStrike">
                <a:solidFill>
                  <a:srgbClr val="0B2A4A"/>
                </a:solidFill>
                <a:effectLst/>
                <a:uFillTx/>
                <a:latin typeface="Times New Roman"/>
                <a:ea typeface="ＭＳ Ｐゴシック"/>
              </a:rPr>
              <a:t>Blockchain &amp; Security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indent="0" algn="ctr" defTabSz="457200">
              <a:lnSpc>
                <a:spcPct val="100000"/>
              </a:lnSpc>
              <a:buNone/>
            </a:pPr>
            <a:r>
              <a:rPr lang="en-US" sz="1300" b="0" u="none" strike="noStrike">
                <a:solidFill>
                  <a:srgbClr val="0070C0"/>
                </a:solidFill>
                <a:effectLst/>
                <a:uFillTx/>
                <a:latin typeface="Arial"/>
                <a:ea typeface="ＭＳ Ｐゴシック"/>
              </a:rPr>
              <a:t>AI-Powered Criminal Network Analysis System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64" name="TextBox 8"/>
          <p:cNvSpPr/>
          <p:nvPr/>
        </p:nvSpPr>
        <p:spPr>
          <a:xfrm>
            <a:off x="0" y="6309360"/>
            <a:ext cx="91080" cy="9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3200" b="0" u="sng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ldNum" idx="26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6D2C70-6660-427C-9385-DE612A32E853}" type="slidenum">
              <a:rPr lang="en-US" sz="120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Oval 9" descr="Your startup LOGO"/>
          <p:cNvSpPr/>
          <p:nvPr/>
        </p:nvSpPr>
        <p:spPr>
          <a:xfrm>
            <a:off x="329760" y="78480"/>
            <a:ext cx="1251360" cy="80712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NETRA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Picture 2" descr="https://www.sih.gov.in/img1/SIH-Logo.png"/>
          <p:cNvPicPr/>
          <p:nvPr/>
        </p:nvPicPr>
        <p:blipFill>
          <a:blip r:embed="rId1"/>
          <a:stretch/>
        </p:blipFill>
        <p:spPr>
          <a:xfrm>
            <a:off x="9841320" y="57240"/>
            <a:ext cx="2208600" cy="11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Box 15362"/>
          <p:cNvSpPr/>
          <p:nvPr/>
        </p:nvSpPr>
        <p:spPr>
          <a:xfrm>
            <a:off x="457200" y="960120"/>
            <a:ext cx="5074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THE PROBLEM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ounded Rectangle 15363"/>
          <p:cNvSpPr/>
          <p:nvPr/>
        </p:nvSpPr>
        <p:spPr>
          <a:xfrm>
            <a:off x="457200" y="1280160"/>
            <a:ext cx="5074560" cy="3837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Arial"/>
                <a:ea typeface="ＭＳ Ｐゴシック"/>
              </a:rPr>
              <a:t>FIRs + CDRs + Transactions + Locations + Digital Intelligence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0" name="Connector 15364"/>
          <p:cNvCxnSpPr/>
          <p:nvPr/>
        </p:nvCxnSpPr>
        <p:spPr>
          <a:xfrm>
            <a:off x="2994480" y="1663920"/>
            <a:ext cx="360" cy="91800"/>
          </a:xfrm>
          <a:prstGeom prst="straightConnector1">
            <a:avLst/>
          </a:prstGeom>
          <a:ln w="22225">
            <a:solidFill>
              <a:srgbClr val="0070C0"/>
            </a:solidFill>
            <a:round/>
            <a:tailEnd len="med" type="triangle" w="med"/>
          </a:ln>
        </p:spPr>
      </p:cxnSp>
      <p:sp>
        <p:nvSpPr>
          <p:cNvPr id="71" name="Rounded Rectangle 15365"/>
          <p:cNvSpPr/>
          <p:nvPr/>
        </p:nvSpPr>
        <p:spPr>
          <a:xfrm>
            <a:off x="457200" y="1755720"/>
            <a:ext cx="5074560" cy="3837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Arial"/>
                <a:ea typeface="ＭＳ Ｐゴシック"/>
              </a:rPr>
              <a:t>Disconnected, siloed records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2" name="Connector 15366"/>
          <p:cNvCxnSpPr/>
          <p:nvPr/>
        </p:nvCxnSpPr>
        <p:spPr>
          <a:xfrm>
            <a:off x="2994480" y="2139480"/>
            <a:ext cx="360" cy="91800"/>
          </a:xfrm>
          <a:prstGeom prst="straightConnector1">
            <a:avLst/>
          </a:prstGeom>
          <a:ln w="22225">
            <a:solidFill>
              <a:srgbClr val="0070C0"/>
            </a:solidFill>
            <a:round/>
            <a:tailEnd len="med" type="triangle" w="med"/>
          </a:ln>
        </p:spPr>
      </p:cxnSp>
      <p:sp>
        <p:nvSpPr>
          <p:cNvPr id="73" name="Rounded Rectangle 15367"/>
          <p:cNvSpPr/>
          <p:nvPr/>
        </p:nvSpPr>
        <p:spPr>
          <a:xfrm>
            <a:off x="457200" y="2231280"/>
            <a:ext cx="5074560" cy="3837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Arial"/>
                <a:ea typeface="ＭＳ Ｐゴシック"/>
              </a:rPr>
              <a:t>Hidden relationships stay hidden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4" name="Connector 15368"/>
          <p:cNvCxnSpPr/>
          <p:nvPr/>
        </p:nvCxnSpPr>
        <p:spPr>
          <a:xfrm>
            <a:off x="2994480" y="2615040"/>
            <a:ext cx="360" cy="91800"/>
          </a:xfrm>
          <a:prstGeom prst="straightConnector1">
            <a:avLst/>
          </a:prstGeom>
          <a:ln w="22225">
            <a:solidFill>
              <a:srgbClr val="0070C0"/>
            </a:solidFill>
            <a:round/>
            <a:tailEnd len="med" type="triangle" w="med"/>
          </a:ln>
        </p:spPr>
      </p:cxnSp>
      <p:sp>
        <p:nvSpPr>
          <p:cNvPr id="75" name="Rounded Rectangle 15369"/>
          <p:cNvSpPr/>
          <p:nvPr/>
        </p:nvSpPr>
        <p:spPr>
          <a:xfrm>
            <a:off x="457200" y="2706480"/>
            <a:ext cx="5074560" cy="3837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Arial"/>
                <a:ea typeface="ＭＳ Ｐゴシック"/>
              </a:rPr>
              <a:t>Slow, manual investigation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5370"/>
          <p:cNvSpPr/>
          <p:nvPr/>
        </p:nvSpPr>
        <p:spPr>
          <a:xfrm>
            <a:off x="6263640" y="960120"/>
            <a:ext cx="5074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OUR SOLUTION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15371"/>
          <p:cNvSpPr/>
          <p:nvPr/>
        </p:nvSpPr>
        <p:spPr>
          <a:xfrm>
            <a:off x="6263640" y="1280160"/>
            <a:ext cx="5074560" cy="38376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Multi-Source Data Ingestion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Connector 15372"/>
          <p:cNvCxnSpPr/>
          <p:nvPr/>
        </p:nvCxnSpPr>
        <p:spPr>
          <a:xfrm>
            <a:off x="8800920" y="1663920"/>
            <a:ext cx="360" cy="91800"/>
          </a:xfrm>
          <a:prstGeom prst="straightConnector1">
            <a:avLst/>
          </a:prstGeom>
          <a:ln w="22225">
            <a:solidFill>
              <a:srgbClr val="0070C0"/>
            </a:solidFill>
            <a:round/>
            <a:tailEnd len="med" type="triangle" w="med"/>
          </a:ln>
        </p:spPr>
      </p:cxnSp>
      <p:sp>
        <p:nvSpPr>
          <p:cNvPr id="79" name="Rounded Rectangle 15373"/>
          <p:cNvSpPr/>
          <p:nvPr/>
        </p:nvSpPr>
        <p:spPr>
          <a:xfrm>
            <a:off x="6263640" y="1755720"/>
            <a:ext cx="5074560" cy="38376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Entity Intelligence &amp; Resolution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0" name="Connector 15374"/>
          <p:cNvCxnSpPr/>
          <p:nvPr/>
        </p:nvCxnSpPr>
        <p:spPr>
          <a:xfrm>
            <a:off x="8800920" y="2139480"/>
            <a:ext cx="360" cy="91800"/>
          </a:xfrm>
          <a:prstGeom prst="straightConnector1">
            <a:avLst/>
          </a:prstGeom>
          <a:ln w="22225">
            <a:solidFill>
              <a:srgbClr val="0070C0"/>
            </a:solidFill>
            <a:round/>
            <a:tailEnd len="med" type="triangle" w="med"/>
          </a:ln>
        </p:spPr>
      </p:cxnSp>
      <p:sp>
        <p:nvSpPr>
          <p:cNvPr id="81" name="Rounded Rectangle 15375"/>
          <p:cNvSpPr/>
          <p:nvPr/>
        </p:nvSpPr>
        <p:spPr>
          <a:xfrm>
            <a:off x="6263640" y="2231280"/>
            <a:ext cx="5074560" cy="38376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Relationship Graph + AI Analytics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2" name="Connector 15376"/>
          <p:cNvCxnSpPr/>
          <p:nvPr/>
        </p:nvCxnSpPr>
        <p:spPr>
          <a:xfrm>
            <a:off x="8800920" y="2615040"/>
            <a:ext cx="360" cy="91800"/>
          </a:xfrm>
          <a:prstGeom prst="straightConnector1">
            <a:avLst/>
          </a:prstGeom>
          <a:ln w="22225">
            <a:solidFill>
              <a:srgbClr val="0070C0"/>
            </a:solidFill>
            <a:round/>
            <a:tailEnd len="med" type="triangle" w="med"/>
          </a:ln>
        </p:spPr>
      </p:cxnSp>
      <p:sp>
        <p:nvSpPr>
          <p:cNvPr id="83" name="Rounded Rectangle 15377"/>
          <p:cNvSpPr/>
          <p:nvPr/>
        </p:nvSpPr>
        <p:spPr>
          <a:xfrm>
            <a:off x="6263640" y="2706480"/>
            <a:ext cx="5074560" cy="38376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Investigator Dashboard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5378"/>
          <p:cNvSpPr/>
          <p:nvPr/>
        </p:nvSpPr>
        <p:spPr>
          <a:xfrm>
            <a:off x="457200" y="324612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KEY CAPABILITIES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15379"/>
          <p:cNvSpPr/>
          <p:nvPr/>
        </p:nvSpPr>
        <p:spPr>
          <a:xfrm>
            <a:off x="457200" y="3538800"/>
            <a:ext cx="2624040" cy="566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70C0"/>
                </a:solidFill>
                <a:effectLst/>
                <a:uFillTx/>
                <a:latin typeface="Arial"/>
                <a:ea typeface="ＭＳ Ｐゴシック"/>
              </a:rPr>
              <a:t>Entity Resolution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15380"/>
          <p:cNvSpPr/>
          <p:nvPr/>
        </p:nvSpPr>
        <p:spPr>
          <a:xfrm>
            <a:off x="3218760" y="3538800"/>
            <a:ext cx="2624040" cy="566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70C0"/>
                </a:solidFill>
                <a:effectLst/>
                <a:uFillTx/>
                <a:latin typeface="Arial"/>
                <a:ea typeface="ＭＳ Ｐゴシック"/>
              </a:rPr>
              <a:t>Interactive Relationship Graph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15381"/>
          <p:cNvSpPr/>
          <p:nvPr/>
        </p:nvSpPr>
        <p:spPr>
          <a:xfrm>
            <a:off x="5980320" y="3538800"/>
            <a:ext cx="2624040" cy="566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70C0"/>
                </a:solidFill>
                <a:effectLst/>
                <a:uFillTx/>
                <a:latin typeface="Arial"/>
                <a:ea typeface="ＭＳ Ｐゴシック"/>
              </a:rPr>
              <a:t>Community Detection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15382"/>
          <p:cNvSpPr/>
          <p:nvPr/>
        </p:nvSpPr>
        <p:spPr>
          <a:xfrm>
            <a:off x="8741520" y="3538800"/>
            <a:ext cx="2624040" cy="566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70C0"/>
                </a:solidFill>
                <a:effectLst/>
                <a:uFillTx/>
                <a:latin typeface="Arial"/>
                <a:ea typeface="ＭＳ Ｐゴシック"/>
              </a:rPr>
              <a:t>Anomaly Detection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15383"/>
          <p:cNvSpPr/>
          <p:nvPr/>
        </p:nvSpPr>
        <p:spPr>
          <a:xfrm>
            <a:off x="457200" y="4215240"/>
            <a:ext cx="2624040" cy="566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70C0"/>
                </a:solidFill>
                <a:effectLst/>
                <a:uFillTx/>
                <a:latin typeface="Arial"/>
                <a:ea typeface="ＭＳ Ｐゴシック"/>
              </a:rPr>
              <a:t>Explainable Intelligence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ounded Rectangle 15384"/>
          <p:cNvSpPr/>
          <p:nvPr/>
        </p:nvSpPr>
        <p:spPr>
          <a:xfrm>
            <a:off x="3218760" y="4215240"/>
            <a:ext cx="2624040" cy="566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70C0"/>
                </a:solidFill>
                <a:effectLst/>
                <a:uFillTx/>
                <a:latin typeface="Arial"/>
                <a:ea typeface="ＭＳ Ｐゴシック"/>
              </a:rPr>
              <a:t>Temporal Analysis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15385"/>
          <p:cNvSpPr/>
          <p:nvPr/>
        </p:nvSpPr>
        <p:spPr>
          <a:xfrm>
            <a:off x="5980320" y="4215240"/>
            <a:ext cx="2624040" cy="566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70C0"/>
                </a:solidFill>
                <a:effectLst/>
                <a:uFillTx/>
                <a:latin typeface="Arial"/>
                <a:ea typeface="ＭＳ Ｐゴシック"/>
              </a:rPr>
              <a:t>Investigator Dashboard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15386"/>
          <p:cNvSpPr/>
          <p:nvPr/>
        </p:nvSpPr>
        <p:spPr>
          <a:xfrm>
            <a:off x="8741520" y="4215240"/>
            <a:ext cx="2624040" cy="566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70C0"/>
                </a:solidFill>
                <a:effectLst/>
                <a:uFillTx/>
                <a:latin typeface="Arial"/>
                <a:ea typeface="ＭＳ Ｐゴシック"/>
              </a:rPr>
              <a:t>Unified Investigation Data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5387"/>
          <p:cNvSpPr/>
          <p:nvPr/>
        </p:nvSpPr>
        <p:spPr>
          <a:xfrm>
            <a:off x="457200" y="5029200"/>
            <a:ext cx="11246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UNIQUE VALUE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15388"/>
          <p:cNvSpPr/>
          <p:nvPr/>
        </p:nvSpPr>
        <p:spPr>
          <a:xfrm>
            <a:off x="457200" y="5321880"/>
            <a:ext cx="2742840" cy="776880"/>
          </a:xfrm>
          <a:prstGeom prst="roundRect">
            <a:avLst>
              <a:gd name="adj" fmla="val 6000"/>
            </a:avLst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Multi-source relationship fusion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D7E6F7"/>
                </a:solidFill>
                <a:effectLst/>
                <a:uFillTx/>
                <a:latin typeface="Arial"/>
                <a:ea typeface="ＭＳ Ｐゴシック"/>
              </a:rPr>
              <a:t>Connects people, phones, accounts, cases, vehicles and locations.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Rounded Rectangle 15389"/>
          <p:cNvSpPr/>
          <p:nvPr/>
        </p:nvSpPr>
        <p:spPr>
          <a:xfrm>
            <a:off x="3291840" y="5321880"/>
            <a:ext cx="2742840" cy="776880"/>
          </a:xfrm>
          <a:prstGeom prst="roundRect">
            <a:avLst>
              <a:gd name="adj" fmla="val 6000"/>
            </a:avLst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AI-powered entity resolution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D7E6F7"/>
                </a:solidFill>
                <a:effectLst/>
                <a:uFillTx/>
                <a:latin typeface="Arial"/>
                <a:ea typeface="ＭＳ Ｐゴシック"/>
              </a:rPr>
              <a:t>Identifies potentially matching entities across inconsistent records.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15390"/>
          <p:cNvSpPr/>
          <p:nvPr/>
        </p:nvSpPr>
        <p:spPr>
          <a:xfrm>
            <a:off x="6126480" y="5321880"/>
            <a:ext cx="2742840" cy="776880"/>
          </a:xfrm>
          <a:prstGeom prst="roundRect">
            <a:avLst>
              <a:gd name="adj" fmla="val 6000"/>
            </a:avLst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Explainable network intelligence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D7E6F7"/>
                </a:solidFill>
                <a:effectLst/>
                <a:uFillTx/>
                <a:latin typeface="Arial"/>
                <a:ea typeface="ＭＳ Ｐゴシック"/>
              </a:rPr>
              <a:t>Shows WHY a relationship or network is significant.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Rounded Rectangle 15391"/>
          <p:cNvSpPr/>
          <p:nvPr/>
        </p:nvSpPr>
        <p:spPr>
          <a:xfrm>
            <a:off x="8961120" y="5321880"/>
            <a:ext cx="2742840" cy="776880"/>
          </a:xfrm>
          <a:prstGeom prst="roundRect">
            <a:avLst>
              <a:gd name="adj" fmla="val 6000"/>
            </a:avLst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Temporal network analysis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D7E6F7"/>
                </a:solidFill>
                <a:effectLst/>
                <a:uFillTx/>
                <a:latin typeface="Arial"/>
                <a:ea typeface="ＭＳ Ｐゴシック"/>
              </a:rPr>
              <a:t>Shows how relationships evolve over time.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"/>
          <p:cNvSpPr/>
          <p:nvPr/>
        </p:nvSpPr>
        <p:spPr>
          <a:xfrm>
            <a:off x="0" y="6354720"/>
            <a:ext cx="12191760" cy="50292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accent2">
                  <a:lumMod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TECHNICAL APPROACH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00" name="TextBox 8"/>
          <p:cNvSpPr/>
          <p:nvPr/>
        </p:nvSpPr>
        <p:spPr>
          <a:xfrm>
            <a:off x="609480" y="6309360"/>
            <a:ext cx="91080" cy="9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ldNum" idx="27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4496F0C-551F-496E-AEC5-A0718EF118AC}" type="slidenum">
              <a:rPr lang="en-US" sz="120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Oval 10" descr="Your startup LOGO"/>
          <p:cNvSpPr/>
          <p:nvPr/>
        </p:nvSpPr>
        <p:spPr>
          <a:xfrm>
            <a:off x="320400" y="253080"/>
            <a:ext cx="1251360" cy="80712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NETRA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Picture 2" descr="https://www.sih.gov.in/img1/SIH-Logo.png"/>
          <p:cNvPicPr/>
          <p:nvPr/>
        </p:nvPicPr>
        <p:blipFill>
          <a:blip r:embed="rId1"/>
          <a:stretch/>
        </p:blipFill>
        <p:spPr>
          <a:xfrm>
            <a:off x="9841320" y="57240"/>
            <a:ext cx="2208600" cy="11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Box 17410"/>
          <p:cNvSpPr/>
          <p:nvPr/>
        </p:nvSpPr>
        <p:spPr>
          <a:xfrm>
            <a:off x="320400" y="137160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ARCHITECTURE FLOW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ounded Rectangle 17411"/>
          <p:cNvSpPr/>
          <p:nvPr/>
        </p:nvSpPr>
        <p:spPr>
          <a:xfrm>
            <a:off x="347400" y="1700640"/>
            <a:ext cx="3931560" cy="402120"/>
          </a:xfrm>
          <a:prstGeom prst="roundRect">
            <a:avLst>
              <a:gd name="adj" fmla="val 6000"/>
            </a:avLst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Data Sources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06" name="Connector 17412"/>
          <p:cNvCxnSpPr/>
          <p:nvPr/>
        </p:nvCxnSpPr>
        <p:spPr>
          <a:xfrm>
            <a:off x="2377440" y="2118960"/>
            <a:ext cx="360" cy="69120"/>
          </a:xfrm>
          <a:prstGeom prst="straightConnector1">
            <a:avLst/>
          </a:prstGeom>
          <a:ln w="22225">
            <a:solidFill>
              <a:srgbClr val="0070C0"/>
            </a:solidFill>
            <a:round/>
            <a:tailEnd len="med" type="triangle" w="med"/>
          </a:ln>
        </p:spPr>
      </p:cxnSp>
      <p:sp>
        <p:nvSpPr>
          <p:cNvPr id="107" name="Rounded Rectangle 17413"/>
          <p:cNvSpPr/>
          <p:nvPr/>
        </p:nvSpPr>
        <p:spPr>
          <a:xfrm>
            <a:off x="347400" y="2187720"/>
            <a:ext cx="3931560" cy="40212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Ingestion &amp; Validation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8" name="Connector 17414"/>
          <p:cNvCxnSpPr/>
          <p:nvPr/>
        </p:nvCxnSpPr>
        <p:spPr>
          <a:xfrm>
            <a:off x="2377440" y="2578320"/>
            <a:ext cx="360" cy="69120"/>
          </a:xfrm>
          <a:prstGeom prst="straightConnector1">
            <a:avLst/>
          </a:prstGeom>
          <a:ln w="22225">
            <a:solidFill>
              <a:srgbClr val="0070C0"/>
            </a:solidFill>
            <a:round/>
            <a:tailEnd len="med" type="triangle" w="med"/>
          </a:ln>
        </p:spPr>
      </p:cxnSp>
      <p:sp>
        <p:nvSpPr>
          <p:cNvPr id="109" name="Rounded Rectangle 17415"/>
          <p:cNvSpPr/>
          <p:nvPr/>
        </p:nvSpPr>
        <p:spPr>
          <a:xfrm>
            <a:off x="347400" y="2651760"/>
            <a:ext cx="3931560" cy="40212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NLP / Entity Extraction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0" name="Connector 17416"/>
          <p:cNvCxnSpPr/>
          <p:nvPr/>
        </p:nvCxnSpPr>
        <p:spPr>
          <a:xfrm>
            <a:off x="2377440" y="3076920"/>
            <a:ext cx="360" cy="68760"/>
          </a:xfrm>
          <a:prstGeom prst="straightConnector1">
            <a:avLst/>
          </a:prstGeom>
          <a:ln w="22225">
            <a:solidFill>
              <a:srgbClr val="0070C0"/>
            </a:solidFill>
            <a:round/>
            <a:tailEnd len="med" type="triangle" w="med"/>
          </a:ln>
        </p:spPr>
      </p:cxnSp>
      <p:sp>
        <p:nvSpPr>
          <p:cNvPr id="111" name="Rounded Rectangle 17417"/>
          <p:cNvSpPr/>
          <p:nvPr/>
        </p:nvSpPr>
        <p:spPr>
          <a:xfrm>
            <a:off x="374760" y="3204720"/>
            <a:ext cx="3931560" cy="40212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Entity Resolution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2" name="Connector 17418"/>
          <p:cNvCxnSpPr/>
          <p:nvPr/>
        </p:nvCxnSpPr>
        <p:spPr>
          <a:xfrm>
            <a:off x="2377440" y="3650040"/>
            <a:ext cx="360" cy="69120"/>
          </a:xfrm>
          <a:prstGeom prst="straightConnector1">
            <a:avLst/>
          </a:prstGeom>
          <a:ln w="22225">
            <a:solidFill>
              <a:srgbClr val="0070C0"/>
            </a:solidFill>
            <a:round/>
            <a:tailEnd len="med" type="triangle" w="med"/>
          </a:ln>
        </p:spPr>
      </p:cxnSp>
      <p:sp>
        <p:nvSpPr>
          <p:cNvPr id="113" name="Rounded Rectangle 17419"/>
          <p:cNvSpPr/>
          <p:nvPr/>
        </p:nvSpPr>
        <p:spPr>
          <a:xfrm>
            <a:off x="374760" y="3731040"/>
            <a:ext cx="3931560" cy="40212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Relationship Graph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4" name="Connector 17420"/>
          <p:cNvCxnSpPr/>
          <p:nvPr/>
        </p:nvCxnSpPr>
        <p:spPr>
          <a:xfrm>
            <a:off x="2377440" y="4155840"/>
            <a:ext cx="360" cy="69120"/>
          </a:xfrm>
          <a:prstGeom prst="straightConnector1">
            <a:avLst/>
          </a:prstGeom>
          <a:ln w="22225">
            <a:solidFill>
              <a:srgbClr val="0070C0"/>
            </a:solidFill>
            <a:round/>
            <a:tailEnd len="med" type="triangle" w="med"/>
          </a:ln>
        </p:spPr>
      </p:cxnSp>
      <p:sp>
        <p:nvSpPr>
          <p:cNvPr id="115" name="Rounded Rectangle 17421"/>
          <p:cNvSpPr/>
          <p:nvPr/>
        </p:nvSpPr>
        <p:spPr>
          <a:xfrm>
            <a:off x="374760" y="4238280"/>
            <a:ext cx="3931560" cy="40212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Graph Analytics + ML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6" name="Connector 17422"/>
          <p:cNvCxnSpPr/>
          <p:nvPr/>
        </p:nvCxnSpPr>
        <p:spPr>
          <a:xfrm>
            <a:off x="2377440" y="4656240"/>
            <a:ext cx="360" cy="69120"/>
          </a:xfrm>
          <a:prstGeom prst="straightConnector1">
            <a:avLst/>
          </a:prstGeom>
          <a:ln w="22225">
            <a:solidFill>
              <a:srgbClr val="0070C0"/>
            </a:solidFill>
            <a:round/>
            <a:tailEnd len="med" type="triangle" w="med"/>
          </a:ln>
        </p:spPr>
      </p:cxnSp>
      <p:sp>
        <p:nvSpPr>
          <p:cNvPr id="117" name="Rounded Rectangle 17423"/>
          <p:cNvSpPr/>
          <p:nvPr/>
        </p:nvSpPr>
        <p:spPr>
          <a:xfrm>
            <a:off x="347400" y="4745880"/>
            <a:ext cx="3931560" cy="40212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Explainable Intelligence Engine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8" name="Connector 17424"/>
          <p:cNvCxnSpPr/>
          <p:nvPr/>
        </p:nvCxnSpPr>
        <p:spPr>
          <a:xfrm>
            <a:off x="2377440" y="5170680"/>
            <a:ext cx="360" cy="69120"/>
          </a:xfrm>
          <a:prstGeom prst="straightConnector1">
            <a:avLst/>
          </a:prstGeom>
          <a:ln w="22225">
            <a:solidFill>
              <a:srgbClr val="0070C0"/>
            </a:solidFill>
            <a:round/>
            <a:tailEnd len="med" type="triangle" w="med"/>
          </a:ln>
        </p:spPr>
      </p:cxnSp>
      <p:sp>
        <p:nvSpPr>
          <p:cNvPr id="119" name="Rounded Rectangle 17425"/>
          <p:cNvSpPr/>
          <p:nvPr/>
        </p:nvSpPr>
        <p:spPr>
          <a:xfrm>
            <a:off x="329040" y="5266800"/>
            <a:ext cx="3931560" cy="402120"/>
          </a:xfrm>
          <a:prstGeom prst="roundRect">
            <a:avLst>
              <a:gd name="adj" fmla="val 6000"/>
            </a:avLst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Investigator Dashboard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17426"/>
          <p:cNvSpPr/>
          <p:nvPr/>
        </p:nvSpPr>
        <p:spPr>
          <a:xfrm>
            <a:off x="4754880" y="960120"/>
            <a:ext cx="6857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TECHNOLOGY STACK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ounded Rectangle 17427"/>
          <p:cNvSpPr/>
          <p:nvPr/>
        </p:nvSpPr>
        <p:spPr>
          <a:xfrm>
            <a:off x="4754880" y="1261800"/>
            <a:ext cx="3337200" cy="658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0070C0"/>
                </a:solidFill>
                <a:effectLst/>
                <a:uFillTx/>
                <a:latin typeface="Arial"/>
                <a:ea typeface="ＭＳ Ｐゴシック"/>
              </a:rPr>
              <a:t>AI / ML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1A1A1A"/>
                </a:solidFill>
                <a:effectLst/>
                <a:uFillTx/>
                <a:latin typeface="Arial"/>
                <a:ea typeface="ＭＳ Ｐゴシック"/>
              </a:rPr>
              <a:t>Python, scikit-learn, spaCy / Transformer NLP, XGBoost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ounded Rectangle 17428"/>
          <p:cNvSpPr/>
          <p:nvPr/>
        </p:nvSpPr>
        <p:spPr>
          <a:xfrm>
            <a:off x="8229600" y="1261800"/>
            <a:ext cx="3337200" cy="658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0070C0"/>
                </a:solidFill>
                <a:effectLst/>
                <a:uFillTx/>
                <a:latin typeface="Arial"/>
                <a:ea typeface="ＭＳ Ｐゴシック"/>
              </a:rPr>
              <a:t>Graph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1A1A1A"/>
                </a:solidFill>
                <a:effectLst/>
                <a:uFillTx/>
                <a:latin typeface="Arial"/>
                <a:ea typeface="ＭＳ Ｐゴシック"/>
              </a:rPr>
              <a:t>Neo4j, NetworkX, community detection, centrality analysis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ounded Rectangle 17429"/>
          <p:cNvSpPr/>
          <p:nvPr/>
        </p:nvSpPr>
        <p:spPr>
          <a:xfrm>
            <a:off x="4754880" y="2039040"/>
            <a:ext cx="3337200" cy="658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0070C0"/>
                </a:solidFill>
                <a:effectLst/>
                <a:uFillTx/>
                <a:latin typeface="Arial"/>
                <a:ea typeface="ＭＳ Ｐゴシック"/>
              </a:rPr>
              <a:t>Backend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1A1A1A"/>
                </a:solidFill>
                <a:effectLst/>
                <a:uFillTx/>
                <a:latin typeface="Arial"/>
                <a:ea typeface="ＭＳ Ｐゴシック"/>
              </a:rPr>
              <a:t>FastAPI (Python)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ounded Rectangle 17430"/>
          <p:cNvSpPr/>
          <p:nvPr/>
        </p:nvSpPr>
        <p:spPr>
          <a:xfrm>
            <a:off x="8229600" y="2039040"/>
            <a:ext cx="3337200" cy="658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0070C0"/>
                </a:solidFill>
                <a:effectLst/>
                <a:uFillTx/>
                <a:latin typeface="Arial"/>
                <a:ea typeface="ＭＳ Ｐゴシック"/>
              </a:rPr>
              <a:t>Database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1A1A1A"/>
                </a:solidFill>
                <a:effectLst/>
                <a:uFillTx/>
                <a:latin typeface="Arial"/>
                <a:ea typeface="ＭＳ Ｐゴシック"/>
              </a:rPr>
              <a:t>PostgreSQL + Neo4j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17431"/>
          <p:cNvSpPr/>
          <p:nvPr/>
        </p:nvSpPr>
        <p:spPr>
          <a:xfrm>
            <a:off x="4754880" y="2816280"/>
            <a:ext cx="3337200" cy="658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0070C0"/>
                </a:solidFill>
                <a:effectLst/>
                <a:uFillTx/>
                <a:latin typeface="Arial"/>
                <a:ea typeface="ＭＳ Ｐゴシック"/>
              </a:rPr>
              <a:t>Frontend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1A1A1A"/>
                </a:solidFill>
                <a:effectLst/>
                <a:uFillTx/>
                <a:latin typeface="Arial"/>
                <a:ea typeface="ＭＳ Ｐゴシック"/>
              </a:rPr>
              <a:t>React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ounded Rectangle 17432"/>
          <p:cNvSpPr/>
          <p:nvPr/>
        </p:nvSpPr>
        <p:spPr>
          <a:xfrm>
            <a:off x="8229600" y="2816280"/>
            <a:ext cx="3337200" cy="658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0070C0"/>
                </a:solidFill>
                <a:effectLst/>
                <a:uFillTx/>
                <a:latin typeface="Arial"/>
                <a:ea typeface="ＭＳ Ｐゴシック"/>
              </a:rPr>
              <a:t>Visualization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1A1A1A"/>
                </a:solidFill>
                <a:effectLst/>
                <a:uFillTx/>
                <a:latin typeface="Arial"/>
                <a:ea typeface="ＭＳ Ｐゴシック"/>
              </a:rPr>
              <a:t>Cytoscape.js — network graph, timeline, geospatial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17433"/>
          <p:cNvSpPr/>
          <p:nvPr/>
        </p:nvSpPr>
        <p:spPr>
          <a:xfrm>
            <a:off x="4526280" y="3602880"/>
            <a:ext cx="457164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RELATIONSHIP GRAPH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8" name="Connector 17434"/>
          <p:cNvCxnSpPr/>
          <p:nvPr/>
        </p:nvCxnSpPr>
        <p:spPr>
          <a:xfrm flipH="1">
            <a:off x="5577840" y="4050720"/>
            <a:ext cx="823320" cy="549000"/>
          </a:xfrm>
          <a:prstGeom prst="straightConnector1">
            <a:avLst/>
          </a:prstGeom>
          <a:ln w="12700">
            <a:solidFill>
              <a:srgbClr val="5A5A5A"/>
            </a:solidFill>
            <a:round/>
          </a:ln>
        </p:spPr>
      </p:cxnSp>
      <p:cxnSp>
        <p:nvCxnSpPr>
          <p:cNvPr id="129" name="Connector 17435"/>
          <p:cNvCxnSpPr/>
          <p:nvPr/>
        </p:nvCxnSpPr>
        <p:spPr>
          <a:xfrm>
            <a:off x="6400800" y="4050720"/>
            <a:ext cx="823320" cy="549000"/>
          </a:xfrm>
          <a:prstGeom prst="straightConnector1">
            <a:avLst/>
          </a:prstGeom>
          <a:ln w="12700">
            <a:solidFill>
              <a:srgbClr val="5A5A5A"/>
            </a:solidFill>
            <a:round/>
          </a:ln>
        </p:spPr>
      </p:cxnSp>
      <p:cxnSp>
        <p:nvCxnSpPr>
          <p:cNvPr id="130" name="Connector 17436"/>
          <p:cNvCxnSpPr/>
          <p:nvPr/>
        </p:nvCxnSpPr>
        <p:spPr>
          <a:xfrm>
            <a:off x="5577840" y="4599360"/>
            <a:ext cx="360" cy="549000"/>
          </a:xfrm>
          <a:prstGeom prst="straightConnector1">
            <a:avLst/>
          </a:prstGeom>
          <a:ln w="12700">
            <a:solidFill>
              <a:srgbClr val="5A5A5A"/>
            </a:solidFill>
            <a:round/>
          </a:ln>
        </p:spPr>
      </p:cxnSp>
      <p:cxnSp>
        <p:nvCxnSpPr>
          <p:cNvPr id="131" name="Connector 17437"/>
          <p:cNvCxnSpPr/>
          <p:nvPr/>
        </p:nvCxnSpPr>
        <p:spPr>
          <a:xfrm>
            <a:off x="7223760" y="4599360"/>
            <a:ext cx="360" cy="549000"/>
          </a:xfrm>
          <a:prstGeom prst="straightConnector1">
            <a:avLst/>
          </a:prstGeom>
          <a:ln w="12700">
            <a:solidFill>
              <a:srgbClr val="5A5A5A"/>
            </a:solidFill>
            <a:round/>
          </a:ln>
        </p:spPr>
      </p:cxnSp>
      <p:cxnSp>
        <p:nvCxnSpPr>
          <p:cNvPr id="132" name="Connector 17438"/>
          <p:cNvCxnSpPr/>
          <p:nvPr/>
        </p:nvCxnSpPr>
        <p:spPr>
          <a:xfrm>
            <a:off x="5577840" y="5148000"/>
            <a:ext cx="823320" cy="549000"/>
          </a:xfrm>
          <a:prstGeom prst="straightConnector1">
            <a:avLst/>
          </a:prstGeom>
          <a:ln w="12700">
            <a:solidFill>
              <a:srgbClr val="5A5A5A"/>
            </a:solidFill>
            <a:round/>
          </a:ln>
        </p:spPr>
      </p:cxnSp>
      <p:cxnSp>
        <p:nvCxnSpPr>
          <p:cNvPr id="133" name="Connector 17439"/>
          <p:cNvCxnSpPr/>
          <p:nvPr/>
        </p:nvCxnSpPr>
        <p:spPr>
          <a:xfrm flipH="1">
            <a:off x="6400800" y="5148000"/>
            <a:ext cx="823320" cy="549000"/>
          </a:xfrm>
          <a:prstGeom prst="straightConnector1">
            <a:avLst/>
          </a:prstGeom>
          <a:ln w="12700">
            <a:solidFill>
              <a:srgbClr val="5A5A5A"/>
            </a:solidFill>
            <a:round/>
          </a:ln>
        </p:spPr>
      </p:cxnSp>
      <p:sp>
        <p:nvSpPr>
          <p:cNvPr id="134" name="Oval 17441"/>
          <p:cNvSpPr/>
          <p:nvPr/>
        </p:nvSpPr>
        <p:spPr>
          <a:xfrm>
            <a:off x="6144840" y="3794760"/>
            <a:ext cx="511560" cy="51156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Person A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Oval 17442"/>
          <p:cNvSpPr/>
          <p:nvPr/>
        </p:nvSpPr>
        <p:spPr>
          <a:xfrm>
            <a:off x="5340240" y="4361760"/>
            <a:ext cx="475200" cy="475200"/>
          </a:xfrm>
          <a:prstGeom prst="ellipse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Phone X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Oval 17443"/>
          <p:cNvSpPr/>
          <p:nvPr/>
        </p:nvSpPr>
        <p:spPr>
          <a:xfrm>
            <a:off x="6986160" y="4361760"/>
            <a:ext cx="475200" cy="475200"/>
          </a:xfrm>
          <a:prstGeom prst="ellipse">
            <a:avLst/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Acct Y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Oval 17444"/>
          <p:cNvSpPr/>
          <p:nvPr/>
        </p:nvSpPr>
        <p:spPr>
          <a:xfrm>
            <a:off x="5340240" y="4910400"/>
            <a:ext cx="475200" cy="475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Person B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Oval 17445"/>
          <p:cNvSpPr/>
          <p:nvPr/>
        </p:nvSpPr>
        <p:spPr>
          <a:xfrm>
            <a:off x="6986160" y="4910400"/>
            <a:ext cx="475200" cy="475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Person C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Oval 17446"/>
          <p:cNvSpPr/>
          <p:nvPr/>
        </p:nvSpPr>
        <p:spPr>
          <a:xfrm>
            <a:off x="6144840" y="5440680"/>
            <a:ext cx="511560" cy="511560"/>
          </a:xfrm>
          <a:prstGeom prst="ellipse">
            <a:avLst/>
          </a:prstGeom>
          <a:solidFill>
            <a:srgbClr val="1E7A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Case 104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17448"/>
          <p:cNvSpPr/>
          <p:nvPr/>
        </p:nvSpPr>
        <p:spPr>
          <a:xfrm>
            <a:off x="8778240" y="4005000"/>
            <a:ext cx="292572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1" name="Rounded Rectangle 17449"/>
          <p:cNvSpPr/>
          <p:nvPr/>
        </p:nvSpPr>
        <p:spPr>
          <a:xfrm>
            <a:off x="8778240" y="4001760"/>
            <a:ext cx="2925720" cy="181692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solidFill>
              <a:srgbClr val="0070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45000" rIns="1098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AI INSIGHT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ＭＳ Ｐゴシック"/>
              </a:rPr>
              <a:t>entities form a highly connected cluster across different data sources.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1" i="1" u="none" strike="noStrike">
                <a:solidFill>
                  <a:srgbClr val="0070C0"/>
                </a:solidFill>
                <a:effectLst/>
                <a:uFillTx/>
                <a:latin typeface="Arial"/>
                <a:ea typeface="ＭＳ Ｐゴシック"/>
              </a:rPr>
              <a:t>Potentially Significant Network — Requires Investigator Review.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9"/>
          <p:cNvSpPr/>
          <p:nvPr/>
        </p:nvSpPr>
        <p:spPr>
          <a:xfrm>
            <a:off x="0" y="6354720"/>
            <a:ext cx="12191760" cy="50292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953735"/>
              </a:solidFill>
              <a:effectLst/>
              <a:uFillTx/>
              <a:latin typeface="Calibri"/>
            </a:endParaRPr>
          </a:p>
        </p:txBody>
      </p:sp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FEASIBILITY AND VIABILITY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44" name="TextBox 8"/>
          <p:cNvSpPr/>
          <p:nvPr/>
        </p:nvSpPr>
        <p:spPr>
          <a:xfrm>
            <a:off x="609480" y="6309360"/>
            <a:ext cx="91080" cy="9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sldNum" idx="28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E696750-A9F6-4A56-9C7F-6F43283B47ED}" type="slidenum"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Oval 11" descr="Your startup LOGO"/>
          <p:cNvSpPr/>
          <p:nvPr/>
        </p:nvSpPr>
        <p:spPr>
          <a:xfrm>
            <a:off x="329760" y="252360"/>
            <a:ext cx="1251360" cy="80712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NETRA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" name="Picture 2" descr="https://www.sih.gov.in/img1/SIH-Logo.png"/>
          <p:cNvPicPr/>
          <p:nvPr/>
        </p:nvPicPr>
        <p:blipFill>
          <a:blip r:embed="rId1"/>
          <a:stretch/>
        </p:blipFill>
        <p:spPr>
          <a:xfrm>
            <a:off x="9841320" y="57240"/>
            <a:ext cx="2208600" cy="11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TextBox 17410"/>
          <p:cNvSpPr/>
          <p:nvPr/>
        </p:nvSpPr>
        <p:spPr>
          <a:xfrm>
            <a:off x="329760" y="15987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MVP IMPLEMENTATION PLAN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ounded Rectangle 17411"/>
          <p:cNvSpPr/>
          <p:nvPr/>
        </p:nvSpPr>
        <p:spPr>
          <a:xfrm>
            <a:off x="329760" y="2011680"/>
            <a:ext cx="5486040" cy="45684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Phase 1: Synthetic / anonymized datasets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ounded Rectangle 17412"/>
          <p:cNvSpPr/>
          <p:nvPr/>
        </p:nvSpPr>
        <p:spPr>
          <a:xfrm>
            <a:off x="329760" y="2697480"/>
            <a:ext cx="5486040" cy="456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Phase 2: Multi-source data ingestion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ounded Rectangle 17413"/>
          <p:cNvSpPr/>
          <p:nvPr/>
        </p:nvSpPr>
        <p:spPr>
          <a:xfrm>
            <a:off x="329760" y="3355920"/>
            <a:ext cx="5486040" cy="45684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Phase 3: Entity extraction + resolution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ounded Rectangle 17414"/>
          <p:cNvSpPr/>
          <p:nvPr/>
        </p:nvSpPr>
        <p:spPr>
          <a:xfrm>
            <a:off x="329760" y="3949920"/>
            <a:ext cx="5486040" cy="456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Phase 4: Graph construction + analytics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17415"/>
          <p:cNvSpPr/>
          <p:nvPr/>
        </p:nvSpPr>
        <p:spPr>
          <a:xfrm>
            <a:off x="329760" y="4598640"/>
            <a:ext cx="5486040" cy="45684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Phase 5: AI insights + dashboard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ounded Rectangle 17416"/>
          <p:cNvSpPr/>
          <p:nvPr/>
        </p:nvSpPr>
        <p:spPr>
          <a:xfrm>
            <a:off x="329760" y="5239080"/>
            <a:ext cx="5486040" cy="456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Phase 6: Evaluation + deployment hardening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17417"/>
          <p:cNvSpPr/>
          <p:nvPr/>
        </p:nvSpPr>
        <p:spPr>
          <a:xfrm>
            <a:off x="6263640" y="168012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KEY CHALLENGES  →  MITIGATION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17418"/>
          <p:cNvSpPr/>
          <p:nvPr/>
        </p:nvSpPr>
        <p:spPr>
          <a:xfrm>
            <a:off x="6250320" y="2109600"/>
            <a:ext cx="5486040" cy="60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B03A2E"/>
                </a:solidFill>
                <a:effectLst/>
                <a:uFillTx/>
                <a:latin typeface="Arial"/>
                <a:ea typeface="ＭＳ Ｐゴシック"/>
              </a:rPr>
              <a:t>Data Quality: </a:t>
            </a:r>
            <a:r>
              <a:rPr lang="en-U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ＭＳ Ｐゴシック"/>
              </a:rPr>
              <a:t>Incomplete/inconsistent records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E7A3C"/>
                </a:solidFill>
                <a:effectLst/>
                <a:uFillTx/>
                <a:latin typeface="Arial"/>
                <a:ea typeface="ＭＳ Ｐゴシック"/>
              </a:rPr>
              <a:t>Mitigation: </a:t>
            </a:r>
            <a:r>
              <a:rPr lang="en-U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ＭＳ Ｐゴシック"/>
              </a:rPr>
              <a:t>Validation + normalization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ounded Rectangle 17419"/>
          <p:cNvSpPr/>
          <p:nvPr/>
        </p:nvSpPr>
        <p:spPr>
          <a:xfrm>
            <a:off x="6250320" y="2910240"/>
            <a:ext cx="5486040" cy="60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B03A2E"/>
                </a:solidFill>
                <a:effectLst/>
                <a:uFillTx/>
                <a:latin typeface="Arial"/>
                <a:ea typeface="ＭＳ Ｐゴシック"/>
              </a:rPr>
              <a:t>Entity Ambiguity: </a:t>
            </a:r>
            <a:r>
              <a:rPr lang="en-U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ＭＳ Ｐゴシック"/>
              </a:rPr>
              <a:t>Same person across sources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E7A3C"/>
                </a:solidFill>
                <a:effectLst/>
                <a:uFillTx/>
                <a:latin typeface="Arial"/>
                <a:ea typeface="ＭＳ Ｐゴシック"/>
              </a:rPr>
              <a:t>Mitigation: </a:t>
            </a:r>
            <a:r>
              <a:rPr lang="en-U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ＭＳ Ｐゴシック"/>
              </a:rPr>
              <a:t>Confidence-based entity resolution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17420"/>
          <p:cNvSpPr/>
          <p:nvPr/>
        </p:nvSpPr>
        <p:spPr>
          <a:xfrm>
            <a:off x="6250320" y="3666240"/>
            <a:ext cx="5486040" cy="60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B03A2E"/>
                </a:solidFill>
                <a:effectLst/>
                <a:uFillTx/>
                <a:latin typeface="Arial"/>
                <a:ea typeface="ＭＳ Ｐゴシック"/>
              </a:rPr>
              <a:t>False Positives: </a:t>
            </a:r>
            <a:r>
              <a:rPr lang="en-U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ＭＳ Ｐゴシック"/>
              </a:rPr>
              <a:t>Incorrectly inferred links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E7A3C"/>
                </a:solidFill>
                <a:effectLst/>
                <a:uFillTx/>
                <a:latin typeface="Arial"/>
                <a:ea typeface="ＭＳ Ｐゴシック"/>
              </a:rPr>
              <a:t>Mitigation: </a:t>
            </a:r>
            <a:r>
              <a:rPr lang="en-U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ＭＳ Ｐゴシック"/>
              </a:rPr>
              <a:t>Human-in-the-loop review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ounded Rectangle 17421"/>
          <p:cNvSpPr/>
          <p:nvPr/>
        </p:nvSpPr>
        <p:spPr>
          <a:xfrm>
            <a:off x="6263640" y="4443120"/>
            <a:ext cx="5486040" cy="60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B03A2E"/>
                </a:solidFill>
                <a:effectLst/>
                <a:uFillTx/>
                <a:latin typeface="Arial"/>
                <a:ea typeface="ＭＳ Ｐゴシック"/>
              </a:rPr>
              <a:t>Privacy &amp; Security: </a:t>
            </a:r>
            <a:r>
              <a:rPr lang="en-U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ＭＳ Ｐゴシック"/>
              </a:rPr>
              <a:t>Sensitive investigative data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E7A3C"/>
                </a:solidFill>
                <a:effectLst/>
                <a:uFillTx/>
                <a:latin typeface="Arial"/>
                <a:ea typeface="ＭＳ Ｐゴシック"/>
              </a:rPr>
              <a:t>Mitigation: </a:t>
            </a:r>
            <a:r>
              <a:rPr lang="en-U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ＭＳ Ｐゴシック"/>
              </a:rPr>
              <a:t>Encryption + RBAC + audit logs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ounded Rectangle 17422"/>
          <p:cNvSpPr/>
          <p:nvPr/>
        </p:nvSpPr>
        <p:spPr>
          <a:xfrm>
            <a:off x="6263640" y="5243760"/>
            <a:ext cx="5486040" cy="60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B03A2E"/>
                </a:solidFill>
                <a:effectLst/>
                <a:uFillTx/>
                <a:latin typeface="Arial"/>
                <a:ea typeface="ＭＳ Ｐゴシック"/>
              </a:rPr>
              <a:t>Explainability: </a:t>
            </a:r>
            <a:r>
              <a:rPr lang="en-U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ＭＳ Ｐゴシック"/>
              </a:rPr>
              <a:t>Evidence behind AI insights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E7A3C"/>
                </a:solidFill>
                <a:effectLst/>
                <a:uFillTx/>
                <a:latin typeface="Arial"/>
                <a:ea typeface="ＭＳ Ｐゴシック"/>
              </a:rPr>
              <a:t>Mitigation: </a:t>
            </a:r>
            <a:r>
              <a:rPr lang="en-U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ＭＳ Ｐゴシック"/>
              </a:rPr>
              <a:t>Evidence-backed relationship scoring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9"/>
          <p:cNvSpPr/>
          <p:nvPr/>
        </p:nvSpPr>
        <p:spPr>
          <a:xfrm>
            <a:off x="0" y="6354720"/>
            <a:ext cx="12191760" cy="50292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953735"/>
              </a:solidFill>
              <a:effectLst/>
              <a:uFillTx/>
              <a:latin typeface="Calibri"/>
            </a:endParaRPr>
          </a:p>
        </p:txBody>
      </p:sp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IMPACT AND BENEFITS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63" name="TextBox 8"/>
          <p:cNvSpPr/>
          <p:nvPr/>
        </p:nvSpPr>
        <p:spPr>
          <a:xfrm>
            <a:off x="609480" y="6309360"/>
            <a:ext cx="91080" cy="9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sldNum" idx="2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CA4C5BD-4777-4F57-8392-BB53BB1EFE76}" type="slidenum"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Oval 11" descr="Your startup LOGO"/>
          <p:cNvSpPr/>
          <p:nvPr/>
        </p:nvSpPr>
        <p:spPr>
          <a:xfrm>
            <a:off x="238320" y="106920"/>
            <a:ext cx="1251360" cy="80712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NETRA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6" name="Picture 2" descr="https://www.sih.gov.in/img1/SIH-Logo.png"/>
          <p:cNvPicPr/>
          <p:nvPr/>
        </p:nvPicPr>
        <p:blipFill>
          <a:blip r:embed="rId1"/>
          <a:stretch/>
        </p:blipFill>
        <p:spPr>
          <a:xfrm>
            <a:off x="9841320" y="57240"/>
            <a:ext cx="2208600" cy="11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TextBox 17410"/>
          <p:cNvSpPr/>
          <p:nvPr/>
        </p:nvSpPr>
        <p:spPr>
          <a:xfrm>
            <a:off x="329760" y="111384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INVESTIGATIVE IMPACT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ounded Rectangle 17411"/>
          <p:cNvSpPr/>
          <p:nvPr/>
        </p:nvSpPr>
        <p:spPr>
          <a:xfrm>
            <a:off x="329760" y="1400400"/>
            <a:ext cx="5486040" cy="50256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Faster relationship discovery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ounded Rectangle 17412"/>
          <p:cNvSpPr/>
          <p:nvPr/>
        </p:nvSpPr>
        <p:spPr>
          <a:xfrm>
            <a:off x="329760" y="2119320"/>
            <a:ext cx="5486040" cy="50256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Reduced manual cross-referencing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ounded Rectangle 17413"/>
          <p:cNvSpPr/>
          <p:nvPr/>
        </p:nvSpPr>
        <p:spPr>
          <a:xfrm>
            <a:off x="329760" y="2862360"/>
            <a:ext cx="5486040" cy="50256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Better visualization of complex networks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ounded Rectangle 17414"/>
          <p:cNvSpPr/>
          <p:nvPr/>
        </p:nvSpPr>
        <p:spPr>
          <a:xfrm>
            <a:off x="329760" y="3651120"/>
            <a:ext cx="5486040" cy="50256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Prioritized investigative leads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Rounded Rectangle 17415"/>
          <p:cNvSpPr/>
          <p:nvPr/>
        </p:nvSpPr>
        <p:spPr>
          <a:xfrm>
            <a:off x="329760" y="4315320"/>
            <a:ext cx="5486040" cy="50256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Improved cross-case intelligence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17416"/>
          <p:cNvSpPr/>
          <p:nvPr/>
        </p:nvSpPr>
        <p:spPr>
          <a:xfrm>
            <a:off x="6263640" y="111384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SYSTEM IMPACT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ounded Rectangle 17417"/>
          <p:cNvSpPr/>
          <p:nvPr/>
        </p:nvSpPr>
        <p:spPr>
          <a:xfrm>
            <a:off x="6250320" y="1409760"/>
            <a:ext cx="5486040" cy="502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Scalable graph-based architecture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ounded Rectangle 17418"/>
          <p:cNvSpPr/>
          <p:nvPr/>
        </p:nvSpPr>
        <p:spPr>
          <a:xfrm>
            <a:off x="6250320" y="2119320"/>
            <a:ext cx="5486040" cy="502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Multi-source interoperability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ounded Rectangle 17419"/>
          <p:cNvSpPr/>
          <p:nvPr/>
        </p:nvSpPr>
        <p:spPr>
          <a:xfrm>
            <a:off x="6263640" y="2862360"/>
            <a:ext cx="5486040" cy="502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Explainable AI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ounded Rectangle 17420"/>
          <p:cNvSpPr/>
          <p:nvPr/>
        </p:nvSpPr>
        <p:spPr>
          <a:xfrm>
            <a:off x="6250320" y="3629160"/>
            <a:ext cx="5486040" cy="502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Auditable investigation workflow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ounded Rectangle 17421"/>
          <p:cNvSpPr/>
          <p:nvPr/>
        </p:nvSpPr>
        <p:spPr>
          <a:xfrm>
            <a:off x="6250320" y="4306680"/>
            <a:ext cx="5486040" cy="502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Human-in-the-loop decision making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17422"/>
          <p:cNvSpPr/>
          <p:nvPr/>
        </p:nvSpPr>
        <p:spPr>
          <a:xfrm>
            <a:off x="329760" y="4936320"/>
            <a:ext cx="5486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FUTURE SCALE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ounded Rectangle 17423"/>
          <p:cNvSpPr/>
          <p:nvPr/>
        </p:nvSpPr>
        <p:spPr>
          <a:xfrm>
            <a:off x="329760" y="5226840"/>
            <a:ext cx="2605680" cy="456840"/>
          </a:xfrm>
          <a:prstGeom prst="roundRect">
            <a:avLst>
              <a:gd name="adj" fmla="val 6000"/>
            </a:avLst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Prototype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81" name="Connector 17424"/>
          <p:cNvCxnSpPr/>
          <p:nvPr/>
        </p:nvCxnSpPr>
        <p:spPr>
          <a:xfrm>
            <a:off x="2935800" y="5455440"/>
            <a:ext cx="201240" cy="360"/>
          </a:xfrm>
          <a:prstGeom prst="straightConnector1">
            <a:avLst/>
          </a:prstGeom>
          <a:ln w="22225">
            <a:solidFill>
              <a:srgbClr val="0070C0"/>
            </a:solidFill>
            <a:round/>
            <a:tailEnd len="med" type="triangle" w="med"/>
          </a:ln>
        </p:spPr>
      </p:cxnSp>
      <p:sp>
        <p:nvSpPr>
          <p:cNvPr id="182" name="Rounded Rectangle 17425"/>
          <p:cNvSpPr/>
          <p:nvPr/>
        </p:nvSpPr>
        <p:spPr>
          <a:xfrm>
            <a:off x="3137040" y="5226840"/>
            <a:ext cx="2605680" cy="456840"/>
          </a:xfrm>
          <a:prstGeom prst="roundRect">
            <a:avLst>
              <a:gd name="adj" fmla="val 6000"/>
            </a:avLst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District / Department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83" name="Connector 17426"/>
          <p:cNvCxnSpPr/>
          <p:nvPr/>
        </p:nvCxnSpPr>
        <p:spPr>
          <a:xfrm>
            <a:off x="5752080" y="5455440"/>
            <a:ext cx="201600" cy="360"/>
          </a:xfrm>
          <a:prstGeom prst="straightConnector1">
            <a:avLst/>
          </a:prstGeom>
          <a:ln w="22225">
            <a:solidFill>
              <a:srgbClr val="0070C0"/>
            </a:solidFill>
            <a:round/>
            <a:tailEnd len="med" type="triangle" w="med"/>
          </a:ln>
        </p:spPr>
      </p:cxnSp>
      <p:sp>
        <p:nvSpPr>
          <p:cNvPr id="184" name="Rounded Rectangle 17427"/>
          <p:cNvSpPr/>
          <p:nvPr/>
        </p:nvSpPr>
        <p:spPr>
          <a:xfrm>
            <a:off x="5962320" y="5235840"/>
            <a:ext cx="2605680" cy="456840"/>
          </a:xfrm>
          <a:prstGeom prst="roundRect">
            <a:avLst>
              <a:gd name="adj" fmla="val 6000"/>
            </a:avLst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State-level Deployment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85" name="Connector 17428"/>
          <p:cNvCxnSpPr/>
          <p:nvPr/>
        </p:nvCxnSpPr>
        <p:spPr>
          <a:xfrm>
            <a:off x="8586000" y="5455440"/>
            <a:ext cx="201600" cy="360"/>
          </a:xfrm>
          <a:prstGeom prst="straightConnector1">
            <a:avLst/>
          </a:prstGeom>
          <a:ln w="22225">
            <a:solidFill>
              <a:srgbClr val="0070C0"/>
            </a:solidFill>
            <a:round/>
            <a:tailEnd len="med" type="triangle" w="med"/>
          </a:ln>
        </p:spPr>
      </p:cxnSp>
      <p:sp>
        <p:nvSpPr>
          <p:cNvPr id="186" name="Rounded Rectangle 17429"/>
          <p:cNvSpPr/>
          <p:nvPr/>
        </p:nvSpPr>
        <p:spPr>
          <a:xfrm>
            <a:off x="8805240" y="5236200"/>
            <a:ext cx="2605680" cy="456840"/>
          </a:xfrm>
          <a:prstGeom prst="roundRect">
            <a:avLst>
              <a:gd name="adj" fmla="val 6000"/>
            </a:avLst>
          </a:prstGeom>
          <a:solidFill>
            <a:srgbClr val="0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36720" rIns="73080" bIns="36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Inter-agency Intelligence Platform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17430"/>
          <p:cNvSpPr/>
          <p:nvPr/>
        </p:nvSpPr>
        <p:spPr>
          <a:xfrm>
            <a:off x="329760" y="5998320"/>
            <a:ext cx="1124676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5A5A5A"/>
                </a:solidFill>
                <a:effectLst/>
                <a:uFillTx/>
                <a:latin typeface="Arial"/>
                <a:ea typeface="ＭＳ Ｐゴシック"/>
              </a:rPr>
              <a:t>Note: </a:t>
            </a:r>
            <a:r>
              <a:rPr lang="en-US" sz="1200" b="0" i="1" u="none" strike="noStrike">
                <a:solidFill>
                  <a:srgbClr val="5A5A5A"/>
                </a:solidFill>
                <a:effectLst/>
                <a:uFillTx/>
                <a:latin typeface="Arial"/>
                <a:ea typeface="ＭＳ Ｐゴシック"/>
              </a:rPr>
              <a:t>Future integration with case-management, CDR, financial-intelligence and forensic systems depends on authorization, data governance and applicable law.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ectangle 9"/>
          <p:cNvSpPr/>
          <p:nvPr/>
        </p:nvSpPr>
        <p:spPr>
          <a:xfrm>
            <a:off x="0" y="6354720"/>
            <a:ext cx="12191760" cy="50292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953735"/>
              </a:solidFill>
              <a:effectLst/>
              <a:uFillTx/>
              <a:latin typeface="Calibri"/>
            </a:endParaRPr>
          </a:p>
        </p:txBody>
      </p:sp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RESEARCH  AND REFERENCES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90" name="TextBox 8"/>
          <p:cNvSpPr/>
          <p:nvPr/>
        </p:nvSpPr>
        <p:spPr>
          <a:xfrm>
            <a:off x="609480" y="6309360"/>
            <a:ext cx="91080" cy="9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sldNum" idx="30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10714EC-CA40-4B6A-8E31-11324070B817}" type="slidenum"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Oval 8" descr="Your startup LOGO"/>
          <p:cNvSpPr/>
          <p:nvPr/>
        </p:nvSpPr>
        <p:spPr>
          <a:xfrm>
            <a:off x="329760" y="252360"/>
            <a:ext cx="1251360" cy="80712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NETRA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3" name="Picture 2" descr="https://www.sih.gov.in/img1/SIH-Logo.png"/>
          <p:cNvPicPr/>
          <p:nvPr/>
        </p:nvPicPr>
        <p:blipFill>
          <a:blip r:embed="rId1"/>
          <a:stretch/>
        </p:blipFill>
        <p:spPr>
          <a:xfrm>
            <a:off x="9841320" y="57240"/>
            <a:ext cx="2208600" cy="11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TextBox 17410"/>
          <p:cNvSpPr/>
          <p:nvPr/>
        </p:nvSpPr>
        <p:spPr>
          <a:xfrm>
            <a:off x="548640" y="153864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0B2A4A"/>
                </a:solidFill>
                <a:effectLst/>
                <a:uFillTx/>
                <a:latin typeface="Arial"/>
                <a:ea typeface="ＭＳ Ｐゴシック"/>
              </a:rPr>
              <a:t>KEY REFERENCES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17411"/>
          <p:cNvSpPr/>
          <p:nvPr/>
        </p:nvSpPr>
        <p:spPr>
          <a:xfrm>
            <a:off x="6291000" y="1051560"/>
            <a:ext cx="5028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Rounded Rectangle 17412"/>
          <p:cNvSpPr/>
          <p:nvPr/>
        </p:nvSpPr>
        <p:spPr>
          <a:xfrm>
            <a:off x="487800" y="2011680"/>
            <a:ext cx="5394600" cy="658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0070C0"/>
                </a:solidFill>
                <a:effectLst/>
                <a:uFillTx/>
                <a:latin typeface="Arial"/>
                <a:ea typeface="ＭＳ Ｐゴシック"/>
              </a:rPr>
              <a:t>[1]  </a:t>
            </a:r>
            <a:r>
              <a:rPr lang="en-U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ＭＳ Ｐゴシック"/>
              </a:rPr>
              <a:t>Fahmida, N. et al., "Graph-Based Analysis of Criminal Networks," IEEE Access.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Rounded Rectangle 17413"/>
          <p:cNvSpPr/>
          <p:nvPr/>
        </p:nvSpPr>
        <p:spPr>
          <a:xfrm>
            <a:off x="487800" y="3077280"/>
            <a:ext cx="5394600" cy="658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0070C0"/>
                </a:solidFill>
                <a:effectLst/>
                <a:uFillTx/>
                <a:latin typeface="Arial"/>
                <a:ea typeface="ＭＳ Ｐゴシック"/>
              </a:rPr>
              <a:t>[2]  </a:t>
            </a:r>
            <a:r>
              <a:rPr lang="en-U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ＭＳ Ｐゴシック"/>
              </a:rPr>
              <a:t>Hogan, A. et al., "Knowledge Graphs," ACM Computing Surveys.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Rounded Rectangle 17414"/>
          <p:cNvSpPr/>
          <p:nvPr/>
        </p:nvSpPr>
        <p:spPr>
          <a:xfrm>
            <a:off x="487800" y="4224240"/>
            <a:ext cx="5394600" cy="658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0070C0"/>
                </a:solidFill>
                <a:effectLst/>
                <a:uFillTx/>
                <a:latin typeface="Arial"/>
                <a:ea typeface="ＭＳ Ｐゴシック"/>
              </a:rPr>
              <a:t>[3]  </a:t>
            </a:r>
            <a:r>
              <a:rPr lang="en-U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ＭＳ Ｐゴシック"/>
              </a:rPr>
              <a:t>Christen, P., "Data Matching: Entity Resolution," Springer.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ounded Rectangle 17415"/>
          <p:cNvSpPr/>
          <p:nvPr/>
        </p:nvSpPr>
        <p:spPr>
          <a:xfrm>
            <a:off x="487800" y="5244120"/>
            <a:ext cx="5394600" cy="658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0070C0"/>
                </a:solidFill>
                <a:effectLst/>
                <a:uFillTx/>
                <a:latin typeface="Arial"/>
                <a:ea typeface="ＭＳ Ｐゴシック"/>
              </a:rPr>
              <a:t>[4]  </a:t>
            </a:r>
            <a:r>
              <a:rPr lang="en-U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ＭＳ Ｐゴシック"/>
              </a:rPr>
              <a:t>Fortunato, S., "Community Detection in Graphs," Physics Reports.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Rounded Rectangle 17416"/>
          <p:cNvSpPr/>
          <p:nvPr/>
        </p:nvSpPr>
        <p:spPr>
          <a:xfrm>
            <a:off x="6309360" y="2018520"/>
            <a:ext cx="5394600" cy="658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0070C0"/>
                </a:solidFill>
                <a:effectLst/>
                <a:uFillTx/>
                <a:latin typeface="Arial"/>
                <a:ea typeface="ＭＳ Ｐゴシック"/>
              </a:rPr>
              <a:t>[5]  </a:t>
            </a:r>
            <a:r>
              <a:rPr lang="en-U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ＭＳ Ｐゴシック"/>
              </a:rPr>
              <a:t>Chandola, V. et al., "Anomaly Detection: A Survey," ACM Computing Surveys.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ounded Rectangle 17417"/>
          <p:cNvSpPr/>
          <p:nvPr/>
        </p:nvSpPr>
        <p:spPr>
          <a:xfrm>
            <a:off x="6309360" y="3083400"/>
            <a:ext cx="5394600" cy="658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0070C0"/>
                </a:solidFill>
                <a:effectLst/>
                <a:uFillTx/>
                <a:latin typeface="Arial"/>
                <a:ea typeface="ＭＳ Ｐゴシック"/>
              </a:rPr>
              <a:t>[6]  </a:t>
            </a:r>
            <a:r>
              <a:rPr lang="en-U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ＭＳ Ｐゴシック"/>
              </a:rPr>
              <a:t>Arrieta, A. B. et al., "Explainable AI (XAI)," Information Fusion.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ounded Rectangle 17418"/>
          <p:cNvSpPr/>
          <p:nvPr/>
        </p:nvSpPr>
        <p:spPr>
          <a:xfrm>
            <a:off x="6460920" y="4224240"/>
            <a:ext cx="5394600" cy="658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0070C0"/>
                </a:solidFill>
                <a:effectLst/>
                <a:uFillTx/>
                <a:latin typeface="Arial"/>
                <a:ea typeface="ＭＳ Ｐゴシック"/>
              </a:rPr>
              <a:t>[7]  </a:t>
            </a:r>
            <a:r>
              <a:rPr lang="en-U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ＭＳ Ｐゴシック"/>
              </a:rPr>
              <a:t>Newman, M. E. J., "Networks: An Introduction," Oxford University Press.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Rounded Rectangle 17419"/>
          <p:cNvSpPr/>
          <p:nvPr/>
        </p:nvSpPr>
        <p:spPr>
          <a:xfrm>
            <a:off x="6428160" y="5244120"/>
            <a:ext cx="5394600" cy="658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9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0070C0"/>
                </a:solidFill>
                <a:effectLst/>
                <a:uFillTx/>
                <a:latin typeface="Arial"/>
                <a:ea typeface="ＭＳ Ｐゴシック"/>
              </a:rPr>
              <a:t>[8]  </a:t>
            </a:r>
            <a:r>
              <a:rPr lang="en-US" sz="950" b="0" u="none" strike="noStrike">
                <a:solidFill>
                  <a:srgbClr val="1A1A1A"/>
                </a:solidFill>
                <a:effectLst/>
                <a:uFillTx/>
                <a:latin typeface="Arial"/>
                <a:ea typeface="ＭＳ Ｐゴシック"/>
              </a:rPr>
              <a:t>Ministry of Home Affairs / CCTNS &amp; Data Protection guidelines, Government of India.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7616</TotalTime>
  <Application>LibreOffice/26.2.5.2$Linux_X86_64 LibreOffice_project/620$Build-2</Application>
  <AppVersion>15.0000</AppVersion>
  <Words>622</Words>
  <Paragraphs>138</Paragraphs>
  <Company>Crowdfunder, Inc.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  <dc:description/>
  <dc:language>en-US</dc:language>
  <cp:lastModifiedBy/>
  <dcterms:modified xsi:type="dcterms:W3CDTF">2026-08-27T12:23:12Z</dcterms:modified>
  <cp:revision>152</cp:revision>
  <dc:subject/>
  <dc:title>Investor Pitch Deck Template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Widescreen</vt:lpwstr>
  </property>
  <property fmtid="{D5CDD505-2E9C-101B-9397-08002B2CF9AE}" pid="4" name="Slides">
    <vt:i4>6</vt:i4>
  </property>
</Properties>
</file>